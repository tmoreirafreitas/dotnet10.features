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725FF5A-DD03-4675-903E-5ED8D5D017D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43ADC75-02F9-4B9D-9BDA-CFD5A02AFDA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6E0F426-F269-448C-8861-A85D40E1969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A90FA49-0D40-475F-A9A6-6449EE02558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79A0354-ABDA-4A13-BF23-98B532B7D56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8761C4B-6C4B-4660-B7AA-F9C9B01891B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283EFDB-79DF-4A75-A68F-A5D68BC29E1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6461E4B-6EE3-428C-9DD9-B0EB33EA727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09A2C8A-A96F-4473-80C4-EB329F98002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7955769-A044-4D0A-9A29-86FC605BA70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96F4127-9710-4A49-B480-D48B9500E46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914400" y="2011680"/>
            <a:ext cx="9677880" cy="324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600" b="1" u="none" strike="noStrike">
                <a:solidFill>
                  <a:srgbClr val="F1F5F9"/>
                </a:solidFill>
                <a:effectLst/>
                <a:uFillTx/>
                <a:latin typeface="Arial"/>
              </a:rPr>
              <a:t>.NET 10 na prática </a:t>
            </a:r>
            <a:endParaRPr lang="pt-BR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200" b="0" u="none" strike="noStrike">
                <a:solidFill>
                  <a:srgbClr val="38BDF8"/>
                </a:solidFill>
                <a:effectLst/>
                <a:uFillTx/>
                <a:latin typeface="Arial"/>
              </a:rPr>
              <a:t>Do Console à Web API 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200" b="0" u="none" strike="noStrike">
                <a:solidFill>
                  <a:srgbClr val="38BDF8"/>
                </a:solidFill>
                <a:effectLst/>
                <a:uFillTx/>
                <a:latin typeface="Arial"/>
              </a:rPr>
              <a:t>Console App:  Extension Members, ISOWeek e Null-Conditional Assignment.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200" b="0" u="none" strike="noStrike">
                <a:solidFill>
                  <a:srgbClr val="38BDF8"/>
                </a:solidFill>
                <a:effectLst/>
                <a:uFillTx/>
                <a:latin typeface="Arial"/>
              </a:rPr>
              <a:t>Web API: OpenAPI, Scalar, EF Core 10 e Server-Sent Events (SSE).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1"/>
          <p:cNvSpPr/>
          <p:nvPr/>
        </p:nvSpPr>
        <p:spPr>
          <a:xfrm>
            <a:off x="731520" y="457200"/>
            <a:ext cx="106977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38BDF8"/>
                </a:solidFill>
                <a:effectLst/>
                <a:uFillTx/>
                <a:latin typeface="Arial"/>
              </a:rPr>
              <a:t>Runtime, Desempenho e Hardware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2"/>
          <p:cNvSpPr/>
          <p:nvPr/>
        </p:nvSpPr>
        <p:spPr>
          <a:xfrm>
            <a:off x="731520" y="1645920"/>
            <a:ext cx="10697760" cy="45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1F5F9"/>
                </a:solidFill>
                <a:effectLst/>
                <a:uFillTx/>
                <a:latin typeface="Arial"/>
              </a:rPr>
              <a:t>Otimizações no JIT e Compilação: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Arial"/>
              </a:rPr>
              <a:t>Melhorias profundas no inlining do JIT, desvirtualização de métodos em tempo de execução e alocações de pilha inteligentes.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1F5F9"/>
                </a:solidFill>
                <a:effectLst/>
                <a:uFillTx/>
                <a:latin typeface="Arial"/>
              </a:rPr>
              <a:t>Suporte Avançado a Hardware: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Arial"/>
              </a:rPr>
              <a:t>Adição de suporte nativo às instruções do padrão AVX10.2, otimizando processamento vetorial pesado.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1F5F9"/>
                </a:solidFill>
                <a:effectLst/>
                <a:uFillTx/>
                <a:latin typeface="Arial"/>
              </a:rPr>
              <a:t>NativeAOT Evoluído: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Arial"/>
              </a:rPr>
              <a:t>Aprimoramentos na compilação Ahead-of-Time nativa. Inicialização quase instantânea e menor footprint de memória para microsserviços.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1"/>
          <p:cNvSpPr/>
          <p:nvPr/>
        </p:nvSpPr>
        <p:spPr>
          <a:xfrm>
            <a:off x="731520" y="457200"/>
            <a:ext cx="106977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38BDF8"/>
                </a:solidFill>
                <a:effectLst/>
                <a:uFillTx/>
                <a:latin typeface="Arial"/>
              </a:rPr>
              <a:t>ASP.NET Core: OpenAPI 3.1 &amp; SSE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2"/>
          <p:cNvSpPr/>
          <p:nvPr/>
        </p:nvSpPr>
        <p:spPr>
          <a:xfrm>
            <a:off x="731520" y="1645920"/>
            <a:ext cx="10697760" cy="20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1F5F9"/>
                </a:solidFill>
                <a:effectLst/>
                <a:uFillTx/>
                <a:latin typeface="Arial"/>
              </a:rPr>
              <a:t>OpenAPI 3.1 Nativo: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Arial"/>
              </a:rPr>
              <a:t>Suporte integrado para especificações JSON e YAML sem depender de pacotes legados.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1F5F9"/>
                </a:solidFill>
                <a:effectLst/>
                <a:uFillTx/>
                <a:latin typeface="Arial"/>
              </a:rPr>
              <a:t>Scalar.AspNetCore: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Arial"/>
              </a:rPr>
              <a:t>Interface moderna de documentação integrada diretamente à Minimal API substituindo o antigo Swagger UI.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1F5F9"/>
                </a:solidFill>
                <a:effectLst/>
                <a:uFillTx/>
                <a:latin typeface="Arial"/>
              </a:rPr>
              <a:t>Server-Sent Events (SSE):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Arial"/>
              </a:rPr>
              <a:t>Suporte nativo simplificado por meio de TypedResults.ServerSentEvents para streaming de dados em tempo real.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/>
          <p:nvPr/>
        </p:nvSpPr>
        <p:spPr>
          <a:xfrm>
            <a:off x="731520" y="457200"/>
            <a:ext cx="106977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38BDF8"/>
                </a:solidFill>
                <a:effectLst/>
                <a:uFillTx/>
                <a:latin typeface="Arial"/>
              </a:rPr>
              <a:t>Modernização do C# e Sintaxe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2"/>
          <p:cNvSpPr/>
          <p:nvPr/>
        </p:nvSpPr>
        <p:spPr>
          <a:xfrm>
            <a:off x="731520" y="1645920"/>
            <a:ext cx="10697760" cy="45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1F5F9"/>
                </a:solidFill>
                <a:effectLst/>
                <a:uFillTx/>
                <a:latin typeface="Arial"/>
              </a:rPr>
              <a:t>Extension Members: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Arial"/>
              </a:rPr>
              <a:t>Novas capacidades permitindo estender propriedades e campos de tipos existentes de forma muito mais natural.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1F5F9"/>
                </a:solidFill>
                <a:effectLst/>
                <a:uFillTx/>
                <a:latin typeface="Arial"/>
              </a:rPr>
              <a:t>Aplicações Baseadas em Arquivos: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Arial"/>
              </a:rPr>
              <a:t>Simplificação arquitetural no nível do sistema de arquivos para bootstrapping e organização de código.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1F5F9"/>
                </a:solidFill>
                <a:effectLst/>
                <a:uFillTx/>
                <a:latin typeface="Arial"/>
              </a:rPr>
              <a:t>Validação Integrada: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Arial"/>
              </a:rPr>
              <a:t>Inclusão de uma API de validação nativa e limpa diretamente via método AddValidation().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/>
          <p:cNvSpPr/>
          <p:nvPr/>
        </p:nvSpPr>
        <p:spPr>
          <a:xfrm>
            <a:off x="731520" y="457200"/>
            <a:ext cx="106977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38BDF8"/>
                </a:solidFill>
                <a:effectLst/>
                <a:uFillTx/>
                <a:latin typeface="Arial"/>
              </a:rPr>
              <a:t>Null-Conditional Assignment (Use com Moderação)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2"/>
          <p:cNvSpPr/>
          <p:nvPr/>
        </p:nvSpPr>
        <p:spPr>
          <a:xfrm>
            <a:off x="731520" y="1645920"/>
            <a:ext cx="10697760" cy="45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1F5F9"/>
                </a:solidFill>
                <a:effectLst/>
                <a:uFillTx/>
                <a:latin typeface="Arial"/>
              </a:rPr>
              <a:t>O Recurso: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Arial"/>
              </a:rPr>
              <a:t>Permite atribuições condicionais compactas quando o destino pode ser nulo.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1F5F9"/>
                </a:solidFill>
                <a:effectLst/>
                <a:uFillTx/>
                <a:latin typeface="Arial"/>
              </a:rPr>
              <a:t>O Perigo: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Arial"/>
              </a:rPr>
              <a:t>Se o objeto base for nulo, a atribuição é ignorada silenciosamente sem lançar exceções.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1F5F9"/>
                </a:solidFill>
                <a:effectLst/>
                <a:uFillTx/>
                <a:latin typeface="Arial"/>
              </a:rPr>
              <a:t>Risco de Lógica: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Arial"/>
              </a:rPr>
              <a:t>Erros sutis de estado podem ser mascarados. Deve ser documentado e auditado nos projetos do time para evitar bugs silenciosos.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1"/>
          <p:cNvSpPr/>
          <p:nvPr/>
        </p:nvSpPr>
        <p:spPr>
          <a:xfrm>
            <a:off x="731520" y="457200"/>
            <a:ext cx="106977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38BDF8"/>
                </a:solidFill>
                <a:effectLst/>
                <a:uFillTx/>
                <a:latin typeface="Arial"/>
              </a:rPr>
              <a:t>Utilidades: ISOWeek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731520" y="1645920"/>
            <a:ext cx="1069776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1F5F9"/>
                </a:solidFill>
                <a:effectLst/>
                <a:uFillTx/>
                <a:latin typeface="Arial"/>
              </a:rPr>
              <a:t>ISOWeek Nativo: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Arial"/>
              </a:rPr>
              <a:t>Excelente para geração de relatórios temporais padronizados internacionais em formatos como HTML, Markdown, PDF, CSV, XLSX.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1"/>
          <p:cNvSpPr/>
          <p:nvPr/>
        </p:nvSpPr>
        <p:spPr>
          <a:xfrm>
            <a:off x="731520" y="457200"/>
            <a:ext cx="106977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38BDF8"/>
                </a:solidFill>
                <a:effectLst/>
                <a:uFillTx/>
                <a:latin typeface="Arial"/>
              </a:rPr>
              <a:t>EF Core 10: Filtros de Consulta Nomeados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2"/>
          <p:cNvSpPr/>
          <p:nvPr/>
        </p:nvSpPr>
        <p:spPr>
          <a:xfrm>
            <a:off x="731520" y="1645920"/>
            <a:ext cx="10697760" cy="45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1F5F9"/>
                </a:solidFill>
                <a:effectLst/>
                <a:uFillTx/>
                <a:latin typeface="Arial"/>
              </a:rPr>
              <a:t>Múltiplos Filtros por Entidade: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Arial"/>
              </a:rPr>
              <a:t>Agora você pode registrar múltiplos filtros lógicos separados (ex: SoftDelete, Multi-Tenant, Arquivado) no mesmo DbContext.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1F5F9"/>
                </a:solidFill>
                <a:effectLst/>
                <a:uFillTx/>
                <a:latin typeface="Arial"/>
              </a:rPr>
              <a:t>Desativação Seletiva: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Arial"/>
              </a:rPr>
              <a:t>Acabe com a limitação do IgnoreQueryFilters(). Use .IgnoreQueryFilter("NomeDoFiltro") para desligar apenas regras específicas mantendo as outras ativas.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1"/>
          <p:cNvSpPr/>
          <p:nvPr/>
        </p:nvSpPr>
        <p:spPr>
          <a:xfrm>
            <a:off x="731520" y="457200"/>
            <a:ext cx="106977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38BDF8"/>
                </a:solidFill>
                <a:effectLst/>
                <a:uFillTx/>
                <a:latin typeface="Arial"/>
              </a:rPr>
              <a:t>LINQ &amp; EF Core 10: LeftJoin() e RightJoin() Nativos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731520" y="1645920"/>
            <a:ext cx="10697760" cy="45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1F5F9"/>
                </a:solidFill>
                <a:effectLst/>
                <a:uFillTx/>
                <a:latin typeface="Arial"/>
              </a:rPr>
              <a:t>Operadores de Primeira Classe: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Arial"/>
              </a:rPr>
              <a:t>Inclusão dos métodos dedicados .LeftJoin() e .RightJoin() diretamente nas APIs do LINQ Enumerable e Queryable.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1F5F9"/>
                </a:solidFill>
                <a:effectLst/>
                <a:uFillTx/>
                <a:latin typeface="Arial"/>
              </a:rPr>
              <a:t>Fim da Verbocidade: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Arial"/>
              </a:rPr>
              <a:t>Não é mais necessário usar a combinação complexa e confusa de 'join ... into' com o método '.DefaultIfEmpty()'.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1F5F9"/>
                </a:solidFill>
                <a:effectLst/>
                <a:uFillTx/>
                <a:latin typeface="Arial"/>
              </a:rPr>
              <a:t>Tradução Direta para SQL: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Arial"/>
              </a:rPr>
              <a:t>O EF Core 10 reconhece perfeitamente os novos operadores e gera comandos nativos LEFT OUTER JOIN e RIGHT OUTER JOIN altamente otimizados.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1"/>
          <p:cNvSpPr/>
          <p:nvPr/>
        </p:nvSpPr>
        <p:spPr>
          <a:xfrm>
            <a:off x="731520" y="457200"/>
            <a:ext cx="106977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38BDF8"/>
                </a:solidFill>
                <a:effectLst/>
                <a:uFillTx/>
                <a:latin typeface="Arial"/>
              </a:rPr>
              <a:t>O que atualizar primeiro?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731520" y="1645920"/>
            <a:ext cx="10697760" cy="45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1F5F9"/>
                </a:solidFill>
                <a:effectLst/>
                <a:uFillTx/>
                <a:latin typeface="Arial"/>
              </a:rPr>
              <a:t>Adoção gradual: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Arial"/>
              </a:rPr>
              <a:t>O .NET 10 traz muitas novidades, mas você não precisa adotar tudo de uma vez.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1F5F9"/>
                </a:solidFill>
                <a:effectLst/>
                <a:uFillTx/>
                <a:latin typeface="Arial"/>
              </a:rPr>
              <a:t>SDK + Ferramentas: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Arial"/>
              </a:rPr>
              <a:t>Ganhe produtividade com as melhorias da CLI e das ferramentas, começando pelo que oferece baixo risco.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1F5F9"/>
                </a:solidFill>
                <a:effectLst/>
                <a:uFillTx/>
                <a:latin typeface="Arial"/>
              </a:rPr>
              <a:t>ASP.NET Core: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Arial"/>
              </a:rPr>
              <a:t>Adote OpenAPI 3.1 e Server-Sent Events (SSE) para modernizar suas APIs.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1F5F9"/>
                </a:solidFill>
                <a:effectLst/>
                <a:uFillTx/>
                <a:latin typeface="Arial"/>
              </a:rPr>
              <a:t>EF Core 10: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Arial"/>
              </a:rPr>
              <a:t>Use filtros nomeados para deixar as consultas mais claras e controlar desativações seletivas.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1F5F9"/>
                </a:solidFill>
                <a:effectLst/>
                <a:uFillTx/>
                <a:latin typeface="Arial"/>
              </a:rPr>
              <a:t>NativeAOT: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Arial"/>
              </a:rPr>
              <a:t>Comece por utilitários ou microsserviços e avalie os ganhos antes de ampliar o uso.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1F5F9"/>
                </a:solidFill>
                <a:effectLst/>
                <a:uFillTx/>
                <a:latin typeface="Arial"/>
              </a:rPr>
              <a:t>C# 14: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Arial"/>
              </a:rPr>
              <a:t>Introduza os novos recursos gradualmente, priorizando módulos novos.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1F5F9"/>
                </a:solidFill>
                <a:effectLst/>
                <a:uFillTx/>
                <a:latin typeface="Arial"/>
              </a:rPr>
              <a:t>Modernização segura: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Arial"/>
              </a:rPr>
              <a:t>Avance etapa por etapa, validando a compatibilidade e medindo os resultados.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1"/>
          <p:cNvSpPr/>
          <p:nvPr/>
        </p:nvSpPr>
        <p:spPr>
          <a:xfrm>
            <a:off x="731520" y="457200"/>
            <a:ext cx="106977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38BDF8"/>
                </a:solidFill>
                <a:effectLst/>
                <a:uFillTx/>
                <a:latin typeface="Arial"/>
              </a:rPr>
              <a:t>Conclusão: modernização com segurança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2"/>
          <p:cNvSpPr/>
          <p:nvPr/>
        </p:nvSpPr>
        <p:spPr>
          <a:xfrm>
            <a:off x="731520" y="1645920"/>
            <a:ext cx="10697760" cy="45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1F5F9"/>
                </a:solidFill>
                <a:effectLst/>
                <a:uFillTx/>
                <a:latin typeface="Arial"/>
              </a:rPr>
              <a:t>Mais do que um lançamento anual: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Arial"/>
              </a:rPr>
              <a:t>o .NET 10 evolui a plataforma, com aplicações mais rápidas, ferramentas mais fluidas, APIs mais limpas e acesso a dados mais inteligente.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1F5F9"/>
                </a:solidFill>
                <a:effectLst/>
                <a:uFillTx/>
                <a:latin typeface="Arial"/>
              </a:rPr>
              <a:t>Benefícios imediatos: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Arial"/>
              </a:rPr>
              <a:t>inicialização mais curta, CLI simplificada, código C# mais expressivo e padrões web modernos.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1F5F9"/>
                </a:solidFill>
                <a:effectLst/>
                <a:uFillTx/>
                <a:latin typeface="Arial"/>
              </a:rPr>
              <a:t>Base de longo prazo: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Arial"/>
              </a:rPr>
              <a:t>o .NET 10 é uma versão LTS, oferecendo uma base com suporte prolongado para planejar a evolução dos sistemas.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1"/>
          <p:cNvSpPr/>
          <p:nvPr/>
        </p:nvSpPr>
        <p:spPr>
          <a:xfrm>
            <a:off x="731520" y="457200"/>
            <a:ext cx="106977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38BDF8"/>
                </a:solidFill>
                <a:effectLst/>
                <a:uFillTx/>
                <a:latin typeface="Arial"/>
              </a:rPr>
              <a:t>Demo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2"/>
          <p:cNvSpPr/>
          <p:nvPr/>
        </p:nvSpPr>
        <p:spPr>
          <a:xfrm>
            <a:off x="731520" y="1645920"/>
            <a:ext cx="10697760" cy="45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1F5F9"/>
                </a:solidFill>
                <a:effectLst/>
                <a:uFillTx/>
                <a:latin typeface="Arial"/>
              </a:rPr>
              <a:t>Demonstração prática: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Arial"/>
              </a:rPr>
              <a:t>vamos explorar o código e observar os recursos apresentados em ação.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</TotalTime>
  <Application>LibreOffice/26.2.6.3$Windows_X86_64 LibreOffice_project/8221e31b3ac356a1623c672912a3d2b492f7e3d1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2026-10-09T09:27:53Z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